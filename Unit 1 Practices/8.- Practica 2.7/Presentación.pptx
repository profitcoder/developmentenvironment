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C9E2F8-ADD7-8581-4698-5F8715CD79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94B619-6C14-CE13-4C14-8672878AE4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14EB1D-4E85-B591-A604-E0F458493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A4B84-9CB6-4EF4-9634-D99A8CEB02C5}" type="datetimeFigureOut">
              <a:rPr lang="es-ES" smtClean="0"/>
              <a:t>27/11/2025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31BB07-969F-AEFD-29A4-21DE50263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C282E0-CF13-7C6F-F384-CFF375760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89AD-1831-42B4-8192-6E5246CB41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8721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B68E6B-BF50-7FEC-ABD3-3F96812E9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779519-513F-06C3-342A-C736FAEAA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46B690-2729-D037-33D5-FF883E3C7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A4B84-9CB6-4EF4-9634-D99A8CEB02C5}" type="datetimeFigureOut">
              <a:rPr lang="es-ES" smtClean="0"/>
              <a:t>27/11/2025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D5C1A0-65DC-DB84-409A-7D7465490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2E62FD-092A-9E07-29C0-F618C8773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89AD-1831-42B4-8192-6E5246CB41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5701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D9B8B6-5197-2A5D-CDC9-A07743FCD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9BE03C-2C9D-F185-2D07-CEA5ADF1D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A95437-D1AB-FCB0-4378-8C2206BA6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A4B84-9CB6-4EF4-9634-D99A8CEB02C5}" type="datetimeFigureOut">
              <a:rPr lang="es-ES" smtClean="0"/>
              <a:t>27/11/2025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CD48EB-9EA6-BA20-4990-20334E84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CE37CE-B3AA-1239-6CDA-BE298DDC2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89AD-1831-42B4-8192-6E5246CB41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9351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34023-F758-D1D8-5289-C0BD98D3C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846549-0352-DA7C-BCC2-EC70489573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33240E9-DFE1-7A66-E30A-A51B9EE5C5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1C3E150-6588-F558-537B-7902B2C68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A4B84-9CB6-4EF4-9634-D99A8CEB02C5}" type="datetimeFigureOut">
              <a:rPr lang="es-ES" smtClean="0"/>
              <a:t>27/11/2025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906FE1B-6414-D35E-3745-301EA8F36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725B4ED-591C-552D-94F5-2580497BC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89AD-1831-42B4-8192-6E5246CB41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679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7763C0-DC6F-5037-CCB2-BF5E365EF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03EB28-7903-8A51-53D8-647CDD424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1CA1EE5-FAD2-F29C-65CC-477978B3EE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DD9FE8C-0B4E-8626-67C6-EC21D726AA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3F338F5-2822-FDB5-DC34-F0062BBE8B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E5E0604-B858-0497-97C2-2183A3956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A4B84-9CB6-4EF4-9634-D99A8CEB02C5}" type="datetimeFigureOut">
              <a:rPr lang="es-ES" smtClean="0"/>
              <a:t>27/11/2025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6BB3DFC-F0FA-32D0-19B8-84256DC0E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F4CE551-15F6-C048-668A-D1DD06089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89AD-1831-42B4-8192-6E5246CB41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0526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F50920-23DE-4051-0833-69834785D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A613ED4-33A9-14EF-A49A-059C0AA91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A4B84-9CB6-4EF4-9634-D99A8CEB02C5}" type="datetimeFigureOut">
              <a:rPr lang="es-ES" smtClean="0"/>
              <a:t>27/11/2025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B2E8A0D-1551-4D27-5A53-CDB3FFE6E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9C91535-192B-EAFE-2C7D-9F319509E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89AD-1831-42B4-8192-6E5246CB41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5057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7C5C925-1DDF-D0C0-CA1D-5D3E9664A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A4B84-9CB6-4EF4-9634-D99A8CEB02C5}" type="datetimeFigureOut">
              <a:rPr lang="es-ES" smtClean="0"/>
              <a:t>27/11/2025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676B2C2-988D-B3DB-7F85-135715B61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0220F2D-4C66-8C26-744A-6A34B45A2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89AD-1831-42B4-8192-6E5246CB41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3949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D7DD1F-F9AF-C06B-DFEC-EDD7F0C21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B075A6-28E3-313C-6DF3-201C8DFA3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0DB6956-FC38-33A4-1EAA-E680E0A7C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FEC9AB-E273-2F25-C0D2-63E45F76F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A4B84-9CB6-4EF4-9634-D99A8CEB02C5}" type="datetimeFigureOut">
              <a:rPr lang="es-ES" smtClean="0"/>
              <a:t>27/11/2025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1843C1F-DD2A-5BE8-FACD-28BEC690C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F85C64C-73F3-087F-043B-3C2419966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89AD-1831-42B4-8192-6E5246CB41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3226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A4535B-48AA-C8FA-8D2D-7E3F6BA0F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B0647EC-7A0C-210D-8531-3D34B49152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E140EA-2A46-7A1D-E6BC-B9924ED00C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E90587-889A-A1A6-3102-49BFDA62B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A4B84-9CB6-4EF4-9634-D99A8CEB02C5}" type="datetimeFigureOut">
              <a:rPr lang="es-ES" smtClean="0"/>
              <a:t>27/11/2025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041607-4C5C-5D11-2E7F-EA06A959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A5DB839-1128-1C4E-FEBE-A617C6BDB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89AD-1831-42B4-8192-6E5246CB41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0327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A24852-9697-3054-BA69-4A26A790C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A626609-4CC7-C7F2-A01E-872017860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B1A593-0AA5-1A32-79C3-CB466433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A4B84-9CB6-4EF4-9634-D99A8CEB02C5}" type="datetimeFigureOut">
              <a:rPr lang="es-ES" smtClean="0"/>
              <a:t>27/11/2025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35DAA1-001A-5C45-399B-7976DCDCE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AEA5D3-D414-FF47-A09C-E30DB994B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89AD-1831-42B4-8192-6E5246CB41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3998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AA54489-91B8-99DA-D999-6C649EC370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B0521AF-CDF2-6D11-45BD-8A6320A3BE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09B2E2-92FF-957D-91F7-D360D521B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A4B84-9CB6-4EF4-9634-D99A8CEB02C5}" type="datetimeFigureOut">
              <a:rPr lang="es-ES" smtClean="0"/>
              <a:t>27/11/2025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DD4A10-F160-D53B-D4E3-96A723706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D6D1BB-1DE7-A008-389F-F96BEE1B2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89AD-1831-42B4-8192-6E5246CB41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5827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D1E77C-437B-4CB8-6D6B-1F5CF9B59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032DE7-1248-E814-F114-BC5F57DCCF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330B577-C4E0-CE61-383F-B2EC55D58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20AA5-2EDA-4C82-A00C-5F8F4DE75DCA}" type="datetimeFigureOut">
              <a:rPr lang="es-ES" smtClean="0"/>
              <a:t>27/11/2025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E0F3CA-D7C2-DFAC-AC10-705A95AFB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FFCA07-83D3-1A70-F72F-6903F6B40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0A83E-2358-4D96-A59E-7080DF92458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7108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8998006-6542-CA2D-DCBE-EFBBF9EA4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4DCD488-0107-A86F-5718-1D09AC746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F7F8DB-6102-9333-5794-BB7477572E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EA4B84-9CB6-4EF4-9634-D99A8CEB02C5}" type="datetimeFigureOut">
              <a:rPr lang="es-ES" smtClean="0"/>
              <a:t>27/11/2025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868731-8459-5093-923D-EBBF23889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08AB42-665E-5779-1E59-784730EC05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EB89AD-1831-42B4-8192-6E5246CB41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7482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1E493D3-31D9-4B80-9798-EEA082E12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62E6AA4D-EC17-45B5-B621-DF0FD91FD4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D56F11D0-7966-41FE-AAB9-EC0C54F11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86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B500CC8-9F92-606C-0014-E30BDF13A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21242" y="6330901"/>
            <a:ext cx="6140449" cy="3952648"/>
          </a:xfr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>
              <a:buNone/>
            </a:pP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Pablo Manuel Fernández Velázquez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C9C7E7D-E8D4-8CE1-B8E2-E4C09FB63EA9}"/>
              </a:ext>
            </a:extLst>
          </p:cNvPr>
          <p:cNvSpPr txBox="1"/>
          <p:nvPr/>
        </p:nvSpPr>
        <p:spPr>
          <a:xfrm>
            <a:off x="278845" y="6330901"/>
            <a:ext cx="1502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27/11/2025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6E35A29-DA2A-C525-CA38-735B9E4BD2DE}"/>
              </a:ext>
            </a:extLst>
          </p:cNvPr>
          <p:cNvSpPr txBox="1"/>
          <p:nvPr/>
        </p:nvSpPr>
        <p:spPr>
          <a:xfrm>
            <a:off x="4952426" y="1935856"/>
            <a:ext cx="66337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0" dirty="0"/>
              <a:t>HERRAMIENTAS CASE</a:t>
            </a:r>
          </a:p>
        </p:txBody>
      </p:sp>
    </p:spTree>
    <p:extLst>
      <p:ext uri="{BB962C8B-B14F-4D97-AF65-F5344CB8AC3E}">
        <p14:creationId xmlns:p14="http://schemas.microsoft.com/office/powerpoint/2010/main" val="994015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1E493D3-31D9-4B80-9798-EEA082E12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62E6AA4D-EC17-45B5-B621-DF0FD91FD4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56F11D0-7966-41FE-AAB9-EC0C54F11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86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A4E3111-18A1-6F12-D210-5D150A3DD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2655887" cy="32132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/>
            <a:r>
              <a:rPr lang="en-US" sz="3400" b="0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2. ¿Qué son las herramientas CASE?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505054-1111-436D-3C23-4049F8BDE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32401" y="1721579"/>
            <a:ext cx="6140449" cy="3952648"/>
          </a:xfr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>
              <a:buNone/>
            </a:pP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Son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herramientas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software que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apoyan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el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desarrollo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y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mantenimiento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sistemas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informáticos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marL="0" marR="0" lvl="0" indent="0">
              <a:buNone/>
            </a:pP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Facilitan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y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automatizan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actividades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del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ciclo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vida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del software.</a:t>
            </a:r>
          </a:p>
          <a:p>
            <a:pPr marL="0" marR="0" lvl="0" indent="0">
              <a:buNone/>
            </a:pP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Mejoran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la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productividad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calidad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y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documentación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del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proyecto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3730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284407A-CE8A-58A7-BF20-29C0B9D2A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127" y="2023558"/>
            <a:ext cx="3521265" cy="24912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/>
            <a:r>
              <a:rPr lang="en-US" sz="3400" b="0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 En la clasificación tenemos:</a:t>
            </a:r>
            <a:br>
              <a:rPr lang="en-US" sz="3400" b="0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400" b="0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3.1CASE Upper (Altas)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58CF7A2-C2E2-D610-C209-7422BA37B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9175" y="1311088"/>
            <a:ext cx="5276850" cy="4327261"/>
          </a:xfr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>
              <a:buNone/>
            </a:pP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Apoyo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en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fases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iniciales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del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desarrollo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marL="0" marR="0" lvl="0" indent="0">
              <a:buNone/>
            </a:pP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Actividades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: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análisis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diseño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modelado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marL="0" marR="0" lvl="0" indent="0">
              <a:buNone/>
            </a:pP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Ejemplo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:</a:t>
            </a:r>
          </a:p>
          <a:p>
            <a:pPr marL="0" marR="0" lvl="0" indent="0">
              <a:buNone/>
            </a:pP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Enterprise Architect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, p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ara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modelado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UML,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diseño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sistemas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y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documentación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técnica</a:t>
            </a:r>
            <a:endParaRPr lang="en-US" sz="2400" b="0" i="0" u="none" strike="noStrike" baseline="0" dirty="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34038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74284A1-6FA8-131A-D921-DA951C19A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127" y="2023558"/>
            <a:ext cx="3521265" cy="24912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/>
            <a:r>
              <a:rPr lang="en-US" sz="4000" b="0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3.2. CASE Lower (Bajas)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0E7103E-F222-AF18-BDEA-4FD57D682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9175" y="1311088"/>
            <a:ext cx="5276850" cy="4327261"/>
          </a:xfr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>
              <a:buNone/>
            </a:pP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Apoyo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en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fases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finales del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desarrollo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marL="0" marR="0" lvl="0" indent="0">
              <a:buNone/>
            </a:pP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Actividades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: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programación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pruebas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mantenimiento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marL="0" marR="0" lvl="0" indent="0">
              <a:buNone/>
            </a:pP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Ejemplo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: </a:t>
            </a:r>
          </a:p>
          <a:p>
            <a:pPr marL="0" marR="0" lvl="0" indent="0">
              <a:buNone/>
            </a:pP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Eclipse IDE,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entorno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desarrollo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con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herramientas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codificación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depuración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y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pruebas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30611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5532555-7370-58A0-CDBE-C6272D4AD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127" y="2023558"/>
            <a:ext cx="3521265" cy="24912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/>
            <a:r>
              <a:rPr lang="en-US" sz="4000" b="0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3.3. CASE Integradas (I-CASE)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9E10884-D875-3107-309B-195F004987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9175" y="1311088"/>
            <a:ext cx="5276850" cy="4327261"/>
          </a:xfr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>
              <a:buNone/>
            </a:pP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Combinan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herramientas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Upper y Lower.</a:t>
            </a:r>
          </a:p>
          <a:p>
            <a:pPr marL="0" marR="0" lvl="0" indent="0">
              <a:buNone/>
            </a:pP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Cubren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gran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parte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del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ciclo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vida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del software.</a:t>
            </a:r>
          </a:p>
          <a:p>
            <a:pPr marL="0" marR="0" lvl="0" indent="0">
              <a:buNone/>
            </a:pP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Ejemplo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: </a:t>
            </a:r>
          </a:p>
          <a:p>
            <a:pPr marL="0" marR="0" lvl="0" indent="0">
              <a:buNone/>
            </a:pP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IBM Rational Rose,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incluye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modelado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generación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código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y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documentación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4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integrada</a:t>
            </a:r>
            <a:r>
              <a:rPr lang="en-US" sz="24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marL="0" marR="0" lvl="0"/>
            <a:endParaRPr lang="en-US" sz="2400" b="0" i="0" u="none" strike="noStrike" baseline="0" dirty="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9579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36FD7B4-0ABB-1611-0092-8FF121E3F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127" y="2023558"/>
            <a:ext cx="3521265" cy="24912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/>
            <a:r>
              <a:rPr lang="en-US" sz="4000" b="0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3.4. Clasificación por función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95C281-876B-83A7-BD77-94BCC465E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9175" y="1311088"/>
            <a:ext cx="5276850" cy="4327261"/>
          </a:xfr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0" marR="0" lvl="0" indent="0">
              <a:buNone/>
            </a:pP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a)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Herramientas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análisis</a:t>
            </a:r>
            <a:endParaRPr lang="en-US" sz="1100" b="0" i="0" u="none" strike="noStrike" baseline="0" dirty="0">
              <a:solidFill>
                <a:schemeClr val="tx1">
                  <a:alpha val="80000"/>
                </a:schemeClr>
              </a:solidFill>
            </a:endParaRPr>
          </a:p>
          <a:p>
            <a:pPr marR="0" lvl="0"/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Ayudan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a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crear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modelos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lógicos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del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sistema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marR="0" lvl="0"/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Ejemplo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: Visual Paradigm –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Diseños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UML,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diagramas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procesos</a:t>
            </a:r>
            <a:endParaRPr lang="en-US" sz="1100" dirty="0">
              <a:solidFill>
                <a:schemeClr val="tx1">
                  <a:alpha val="80000"/>
                </a:schemeClr>
              </a:solidFill>
            </a:endParaRPr>
          </a:p>
          <a:p>
            <a:pPr marL="0" marR="0" lvl="0" indent="0">
              <a:buNone/>
            </a:pPr>
            <a:endParaRPr lang="en-US" sz="1100" b="0" i="0" u="none" strike="noStrike" baseline="0" dirty="0">
              <a:solidFill>
                <a:schemeClr val="tx1">
                  <a:alpha val="80000"/>
                </a:schemeClr>
              </a:solidFill>
            </a:endParaRPr>
          </a:p>
          <a:p>
            <a:pPr marL="0" marR="0" lvl="0" indent="0">
              <a:buNone/>
            </a:pP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b)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Herramientas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diseño</a:t>
            </a:r>
            <a:endParaRPr lang="en-US" sz="1100" b="0" i="0" u="none" strike="noStrike" baseline="0" dirty="0">
              <a:solidFill>
                <a:schemeClr val="tx1">
                  <a:alpha val="80000"/>
                </a:schemeClr>
              </a:solidFill>
            </a:endParaRPr>
          </a:p>
          <a:p>
            <a:pPr marR="0" lvl="0"/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Transforman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requisitos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en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arquitectura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del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sistema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marR="0" lvl="0"/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Ejemplo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: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Astah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–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Modelado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estructurado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y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orientado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a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objetos</a:t>
            </a:r>
            <a:endParaRPr lang="en-US" sz="1100" dirty="0">
              <a:solidFill>
                <a:schemeClr val="tx1">
                  <a:alpha val="80000"/>
                </a:schemeClr>
              </a:solidFill>
            </a:endParaRPr>
          </a:p>
          <a:p>
            <a:pPr marL="0" marR="0" lvl="0" indent="0">
              <a:buNone/>
            </a:pPr>
            <a:endParaRPr lang="en-US" sz="1100" b="0" i="0" u="none" strike="noStrike" baseline="0" dirty="0">
              <a:solidFill>
                <a:schemeClr val="tx1">
                  <a:alpha val="80000"/>
                </a:schemeClr>
              </a:solidFill>
            </a:endParaRPr>
          </a:p>
          <a:p>
            <a:pPr marL="0" marR="0" lvl="0" indent="0">
              <a:buNone/>
            </a:pP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c)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Herramientas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generación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código</a:t>
            </a:r>
            <a:endParaRPr lang="en-US" sz="1100" b="0" i="0" u="none" strike="noStrike" baseline="0" dirty="0">
              <a:solidFill>
                <a:schemeClr val="tx1">
                  <a:alpha val="80000"/>
                </a:schemeClr>
              </a:solidFill>
            </a:endParaRPr>
          </a:p>
          <a:p>
            <a:pPr marR="0" lvl="0"/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Generan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código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a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partir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modelos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marR="0" lvl="0"/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Ejemplo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: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GenMyModel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– Generación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automática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clases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a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partir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diagramas</a:t>
            </a:r>
            <a:endParaRPr lang="en-US" sz="1100" dirty="0">
              <a:solidFill>
                <a:schemeClr val="tx1">
                  <a:alpha val="80000"/>
                </a:schemeClr>
              </a:solidFill>
            </a:endParaRPr>
          </a:p>
          <a:p>
            <a:pPr marL="0" marR="0" lvl="0" indent="0">
              <a:buNone/>
            </a:pPr>
            <a:endParaRPr lang="en-US" sz="1100" b="0" i="0" u="none" strike="noStrike" baseline="0" dirty="0">
              <a:solidFill>
                <a:schemeClr val="tx1">
                  <a:alpha val="80000"/>
                </a:schemeClr>
              </a:solidFill>
            </a:endParaRPr>
          </a:p>
          <a:p>
            <a:pPr marL="0" marR="0" lvl="0" indent="0">
              <a:buNone/>
            </a:pP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d)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Herramientas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pruebas</a:t>
            </a:r>
            <a:endParaRPr lang="en-US" sz="1100" b="0" i="0" u="none" strike="noStrike" baseline="0" dirty="0">
              <a:solidFill>
                <a:schemeClr val="tx1">
                  <a:alpha val="80000"/>
                </a:schemeClr>
              </a:solidFill>
            </a:endParaRPr>
          </a:p>
          <a:p>
            <a:pPr marR="0" lvl="0"/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Automatizan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test y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detección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errores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marR="0" lvl="0"/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Ejemplo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: JUnit – Framework para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pruebas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unitarias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en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Java</a:t>
            </a:r>
          </a:p>
          <a:p>
            <a:pPr marL="0" marR="0" lvl="0" indent="0">
              <a:buNone/>
            </a:pPr>
            <a:endParaRPr lang="en-US" sz="1100" b="0" i="0" u="none" strike="noStrike" baseline="0" dirty="0">
              <a:solidFill>
                <a:schemeClr val="tx1">
                  <a:alpha val="80000"/>
                </a:schemeClr>
              </a:solidFill>
            </a:endParaRPr>
          </a:p>
          <a:p>
            <a:pPr marL="0" marR="0" lvl="0" indent="0">
              <a:buNone/>
            </a:pP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e)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Herramientas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documentación</a:t>
            </a:r>
            <a:endParaRPr lang="en-US" sz="1100" b="0" i="0" u="none" strike="noStrike" baseline="0" dirty="0">
              <a:solidFill>
                <a:schemeClr val="tx1">
                  <a:alpha val="80000"/>
                </a:schemeClr>
              </a:solidFill>
            </a:endParaRPr>
          </a:p>
          <a:p>
            <a:pPr marR="0" lvl="0"/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Generan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reportes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técnicos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o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documentación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del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sistema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marR="0" lvl="0"/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Ejemplo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: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Doxygen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– Genera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documentación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automática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desde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código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100" b="0" i="0" u="none" strike="noStrike" baseline="0" dirty="0" err="1">
                <a:solidFill>
                  <a:schemeClr val="tx1">
                    <a:alpha val="80000"/>
                  </a:schemeClr>
                </a:solidFill>
              </a:rPr>
              <a:t>fuente</a:t>
            </a:r>
            <a:r>
              <a:rPr lang="en-US" sz="1100" b="0" i="0" u="none" strike="noStrike" baseline="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106224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5A82003-EF4B-B482-3CD7-102598027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694268"/>
            <a:ext cx="3553510" cy="54779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algn="ctr"/>
            <a:r>
              <a:rPr lang="en-US" b="0" i="0" u="none" strike="noStrike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 </a:t>
            </a:r>
            <a:r>
              <a:rPr lang="en-US" b="0" i="0" u="none" strike="noStrike" kern="1200" baseline="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Conclusión</a:t>
            </a:r>
            <a:endParaRPr lang="en-US" b="0" i="0" u="none" strike="noStrike" kern="120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0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37426" y="2203010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553709-B895-2F34-7847-B90D67F07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4868" y="1130846"/>
            <a:ext cx="5217173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>
              <a:buNone/>
            </a:pPr>
            <a:r>
              <a:rPr lang="en-US" b="0" i="0" u="none" strike="noStrike" baseline="0" dirty="0" err="1">
                <a:solidFill>
                  <a:schemeClr val="bg1"/>
                </a:solidFill>
              </a:rPr>
              <a:t>Permiten</a:t>
            </a:r>
            <a:r>
              <a:rPr lang="en-US" b="0" i="0" u="none" strike="noStrike" baseline="0" dirty="0">
                <a:solidFill>
                  <a:schemeClr val="bg1"/>
                </a:solidFill>
              </a:rPr>
              <a:t> </a:t>
            </a:r>
            <a:r>
              <a:rPr lang="en-US" b="0" i="0" u="none" strike="noStrike" baseline="0" dirty="0" err="1">
                <a:solidFill>
                  <a:schemeClr val="bg1"/>
                </a:solidFill>
              </a:rPr>
              <a:t>mejorar</a:t>
            </a:r>
            <a:r>
              <a:rPr lang="en-US" b="0" i="0" u="none" strike="noStrike" baseline="0" dirty="0">
                <a:solidFill>
                  <a:schemeClr val="bg1"/>
                </a:solidFill>
              </a:rPr>
              <a:t> la </a:t>
            </a:r>
            <a:r>
              <a:rPr lang="en-US" b="0" i="0" u="none" strike="noStrike" baseline="0" dirty="0" err="1">
                <a:solidFill>
                  <a:schemeClr val="bg1"/>
                </a:solidFill>
              </a:rPr>
              <a:t>calidad</a:t>
            </a:r>
            <a:r>
              <a:rPr lang="en-US" b="0" i="0" u="none" strike="noStrike" baseline="0" dirty="0">
                <a:solidFill>
                  <a:schemeClr val="bg1"/>
                </a:solidFill>
              </a:rPr>
              <a:t>, </a:t>
            </a:r>
            <a:r>
              <a:rPr lang="en-US" b="0" i="0" u="none" strike="noStrike" baseline="0" dirty="0" err="1">
                <a:solidFill>
                  <a:schemeClr val="bg1"/>
                </a:solidFill>
              </a:rPr>
              <a:t>reducir</a:t>
            </a:r>
            <a:r>
              <a:rPr lang="en-US" b="0" i="0" u="none" strike="noStrike" baseline="0" dirty="0">
                <a:solidFill>
                  <a:schemeClr val="bg1"/>
                </a:solidFill>
              </a:rPr>
              <a:t> </a:t>
            </a:r>
            <a:r>
              <a:rPr lang="en-US" b="0" i="0" u="none" strike="noStrike" baseline="0" dirty="0" err="1">
                <a:solidFill>
                  <a:schemeClr val="bg1"/>
                </a:solidFill>
              </a:rPr>
              <a:t>tiempos</a:t>
            </a:r>
            <a:r>
              <a:rPr lang="en-US" b="0" i="0" u="none" strike="noStrike" baseline="0" dirty="0">
                <a:solidFill>
                  <a:schemeClr val="bg1"/>
                </a:solidFill>
              </a:rPr>
              <a:t> y </a:t>
            </a:r>
            <a:r>
              <a:rPr lang="en-US" b="0" i="0" u="none" strike="noStrike" baseline="0" dirty="0" err="1">
                <a:solidFill>
                  <a:schemeClr val="bg1"/>
                </a:solidFill>
              </a:rPr>
              <a:t>facilitar</a:t>
            </a:r>
            <a:r>
              <a:rPr lang="en-US" b="0" i="0" u="none" strike="noStrike" baseline="0" dirty="0">
                <a:solidFill>
                  <a:schemeClr val="bg1"/>
                </a:solidFill>
              </a:rPr>
              <a:t> </a:t>
            </a:r>
            <a:r>
              <a:rPr lang="en-US" b="0" i="0" u="none" strike="noStrike" baseline="0" dirty="0" err="1">
                <a:solidFill>
                  <a:schemeClr val="bg1"/>
                </a:solidFill>
              </a:rPr>
              <a:t>el</a:t>
            </a:r>
            <a:r>
              <a:rPr lang="en-US" b="0" i="0" u="none" strike="noStrike" baseline="0" dirty="0">
                <a:solidFill>
                  <a:schemeClr val="bg1"/>
                </a:solidFill>
              </a:rPr>
              <a:t> </a:t>
            </a:r>
            <a:r>
              <a:rPr lang="en-US" b="0" i="0" u="none" strike="noStrike" baseline="0" dirty="0" err="1">
                <a:solidFill>
                  <a:schemeClr val="bg1"/>
                </a:solidFill>
              </a:rPr>
              <a:t>trabajo</a:t>
            </a:r>
            <a:r>
              <a:rPr lang="en-US" b="0" i="0" u="none" strike="noStrike" baseline="0" dirty="0">
                <a:solidFill>
                  <a:schemeClr val="bg1"/>
                </a:solidFill>
              </a:rPr>
              <a:t> </a:t>
            </a:r>
            <a:r>
              <a:rPr lang="en-US" b="0" i="0" u="none" strike="noStrike" baseline="0" dirty="0" err="1">
                <a:solidFill>
                  <a:schemeClr val="bg1"/>
                </a:solidFill>
              </a:rPr>
              <a:t>colaborativo</a:t>
            </a:r>
            <a:r>
              <a:rPr lang="en-US" b="0" i="0" u="none" strike="noStrike" baseline="0" dirty="0">
                <a:solidFill>
                  <a:schemeClr val="bg1"/>
                </a:solidFill>
              </a:rPr>
              <a:t>.</a:t>
            </a:r>
          </a:p>
          <a:p>
            <a:pPr marL="0" marR="0" lvl="0" indent="0">
              <a:buNone/>
            </a:pPr>
            <a:endParaRPr lang="en-US" b="0" i="0" u="none" strike="noStrike" baseline="0" dirty="0">
              <a:solidFill>
                <a:schemeClr val="bg1"/>
              </a:solidFill>
            </a:endParaRPr>
          </a:p>
          <a:p>
            <a:pPr marL="0" marR="0" lv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marR="0" lvl="0" indent="0">
              <a:buNone/>
            </a:pPr>
            <a:endParaRPr lang="en-US" b="0" i="0" u="none" strike="noStrike" baseline="0" dirty="0">
              <a:solidFill>
                <a:schemeClr val="bg1"/>
              </a:solidFill>
            </a:endParaRPr>
          </a:p>
          <a:p>
            <a:pPr marL="0" marR="0" lvl="0" indent="0">
              <a:buNone/>
            </a:pPr>
            <a:r>
              <a:rPr lang="en-US" b="0" i="0" u="none" strike="noStrike" baseline="0" dirty="0">
                <a:solidFill>
                  <a:schemeClr val="bg1"/>
                </a:solidFill>
              </a:rPr>
              <a:t>Su </a:t>
            </a:r>
            <a:r>
              <a:rPr lang="en-US" b="0" i="0" u="none" strike="noStrike" baseline="0" dirty="0" err="1">
                <a:solidFill>
                  <a:schemeClr val="bg1"/>
                </a:solidFill>
              </a:rPr>
              <a:t>elección</a:t>
            </a:r>
            <a:r>
              <a:rPr lang="en-US" b="0" i="0" u="none" strike="noStrike" baseline="0" dirty="0">
                <a:solidFill>
                  <a:schemeClr val="bg1"/>
                </a:solidFill>
              </a:rPr>
              <a:t> </a:t>
            </a:r>
            <a:r>
              <a:rPr lang="en-US" b="0" i="0" u="none" strike="noStrike" baseline="0" dirty="0" err="1">
                <a:solidFill>
                  <a:schemeClr val="bg1"/>
                </a:solidFill>
              </a:rPr>
              <a:t>depende</a:t>
            </a:r>
            <a:r>
              <a:rPr lang="en-US" b="0" i="0" u="none" strike="noStrike" baseline="0" dirty="0">
                <a:solidFill>
                  <a:schemeClr val="bg1"/>
                </a:solidFill>
              </a:rPr>
              <a:t> de la </a:t>
            </a:r>
            <a:r>
              <a:rPr lang="en-US" b="0" i="0" u="none" strike="noStrike" baseline="0" dirty="0" err="1">
                <a:solidFill>
                  <a:schemeClr val="bg1"/>
                </a:solidFill>
              </a:rPr>
              <a:t>fase</a:t>
            </a:r>
            <a:r>
              <a:rPr lang="en-US" b="0" i="0" u="none" strike="noStrike" baseline="0" dirty="0">
                <a:solidFill>
                  <a:schemeClr val="bg1"/>
                </a:solidFill>
              </a:rPr>
              <a:t> del </a:t>
            </a:r>
            <a:r>
              <a:rPr lang="en-US" b="0" i="0" u="none" strike="noStrike" baseline="0" dirty="0" err="1">
                <a:solidFill>
                  <a:schemeClr val="bg1"/>
                </a:solidFill>
              </a:rPr>
              <a:t>proyecto</a:t>
            </a:r>
            <a:r>
              <a:rPr lang="en-US" b="0" i="0" u="none" strike="noStrike" baseline="0" dirty="0">
                <a:solidFill>
                  <a:schemeClr val="bg1"/>
                </a:solidFill>
              </a:rPr>
              <a:t> y </a:t>
            </a:r>
            <a:r>
              <a:rPr lang="en-US" b="0" i="0" u="none" strike="noStrike" baseline="0" dirty="0" err="1">
                <a:solidFill>
                  <a:schemeClr val="bg1"/>
                </a:solidFill>
              </a:rPr>
              <a:t>el</a:t>
            </a:r>
            <a:r>
              <a:rPr lang="en-US" b="0" i="0" u="none" strike="noStrike" baseline="0" dirty="0">
                <a:solidFill>
                  <a:schemeClr val="bg1"/>
                </a:solidFill>
              </a:rPr>
              <a:t> </a:t>
            </a:r>
            <a:r>
              <a:rPr lang="en-US" b="0" i="0" u="none" strike="noStrike" baseline="0" dirty="0" err="1">
                <a:solidFill>
                  <a:schemeClr val="bg1"/>
                </a:solidFill>
              </a:rPr>
              <a:t>objetivo</a:t>
            </a:r>
            <a:r>
              <a:rPr lang="en-US" b="0" i="0" u="none" strike="noStrike" baseline="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82424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322</Words>
  <Application>Microsoft Office PowerPoint</Application>
  <PresentationFormat>Panorámica</PresentationFormat>
  <Paragraphs>48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de Office</vt:lpstr>
      <vt:lpstr>Presentación de PowerPoint</vt:lpstr>
      <vt:lpstr>2. ¿Qué son las herramientas CASE?</vt:lpstr>
      <vt:lpstr>3. En la clasificación tenemos: 3.1CASE Upper (Altas)</vt:lpstr>
      <vt:lpstr>3.2. CASE Lower (Bajas)</vt:lpstr>
      <vt:lpstr>3.3. CASE Integradas (I-CASE)</vt:lpstr>
      <vt:lpstr>3.4. Clasificación por función</vt:lpstr>
      <vt:lpstr>4. 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Pablo Fernandez Velazquez</dc:creator>
  <cp:lastModifiedBy>Pablo Fernandez Velazquez</cp:lastModifiedBy>
  <cp:revision>2</cp:revision>
  <dcterms:created xsi:type="dcterms:W3CDTF">2025-11-27T17:56:03Z</dcterms:created>
  <dcterms:modified xsi:type="dcterms:W3CDTF">2025-11-27T18:05:45Z</dcterms:modified>
</cp:coreProperties>
</file>